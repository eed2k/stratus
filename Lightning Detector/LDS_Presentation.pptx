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182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648133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98516767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0910607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472836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55388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506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57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02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DDF897-1E34-8AB8-A980-E1B229C6A0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346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826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6341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D10D48-61A8-7B4F-DE1A-FB480760EF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49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41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6333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1B0135-2A8F-9551-7194-BDBAA89CD5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15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9936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675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400D6A-8D40-4439-4360-616A342056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06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49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4136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1681D3-2140-496C-9F2F-9C81C50A8B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258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0227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9331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0093A-9006-F5ED-5871-51168CF3F5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025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7734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5278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8BC191-15F8-8210-D50C-9AE3D45444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89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607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2518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07BEBF-4EFF-568C-B0CF-39C1A44DC9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512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500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8614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C55EE3-3038-D40B-A110-F39A5242A8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625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2248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9352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6F7CF9-25FC-30A4-A23C-B1EE8D65874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649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8721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298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663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8467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557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CEEBDA-B2DF-E6D5-B678-A1AB9D4CC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626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01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9544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923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677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2950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899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0590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453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08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594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520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632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9748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242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D7846F-B047-169C-320B-AA0A5446A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614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7803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5255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C0FA0A-D1A6-3C2F-8A04-1BF0B6F1BB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0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807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1596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001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989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1972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9D406D-4D65-7AFC-1C5D-73029F8C541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380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640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9689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EBE5AB-EA2C-F324-F079-EA7E9D9ACB8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984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3675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941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00FEC6-F543-80D3-683D-EB4CE351AE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STER_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471943" name="Shape 0"/>
          <p:cNvSpPr/>
          <p:nvPr/>
        </p:nvSpPr>
        <p:spPr bwMode="auto">
          <a:xfrm>
            <a:off x="0" y="0"/>
            <a:ext cx="9144000" cy="1028700"/>
          </a:xfrm>
          <a:prstGeom prst="rect">
            <a:avLst/>
          </a:prstGeom>
          <a:solidFill>
            <a:srgbClr val="001F3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34141" name="Freeform 2"/>
          <p:cNvSpPr/>
          <p:nvPr/>
        </p:nvSpPr>
        <p:spPr bwMode="auto">
          <a:xfrm rot="0" flipH="0" flipV="0">
            <a:off x="-119335" y="-127045"/>
            <a:ext cx="9263335" cy="5340444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666" r="0" b="-665"/>
            </a:stretch>
          </a:blipFill>
        </p:spPr>
      </p:sp>
      <p:grpSp>
        <p:nvGrpSpPr>
          <p:cNvPr id="487708934" name="Group 3"/>
          <p:cNvGrpSpPr/>
          <p:nvPr/>
        </p:nvGrpSpPr>
        <p:grpSpPr bwMode="auto">
          <a:xfrm rot="0">
            <a:off x="4873972" y="0"/>
            <a:ext cx="6100869" cy="5143500"/>
            <a:chOff x="0" y="0"/>
            <a:chExt cx="6100869" cy="5143500"/>
          </a:xfrm>
        </p:grpSpPr>
        <p:sp>
          <p:nvSpPr>
            <p:cNvPr id="234821764" name="Freeform 4"/>
            <p:cNvSpPr/>
            <p:nvPr/>
          </p:nvSpPr>
          <p:spPr bwMode="auto">
            <a:xfrm rot="0" flipH="0" flipV="0">
              <a:off x="0" y="0"/>
              <a:ext cx="6100869" cy="5143500"/>
            </a:xfrm>
            <a:custGeom>
              <a:avLst/>
              <a:gdLst/>
              <a:ahLst/>
              <a:cxnLst/>
              <a:rect l="l" t="t" r="r" b="b"/>
              <a:pathLst>
                <a:path w="4282440" h="3708400" fill="norm" stroke="1" extrusionOk="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 rotWithShape="1">
              <a:blip r:embed="rId4"/>
              <a:stretch>
                <a:fillRect l="-34712" t="0" r="-34711" b="0"/>
              </a:stretch>
            </a:blipFill>
          </p:spPr>
        </p:sp>
      </p:grpSp>
      <p:sp>
        <p:nvSpPr>
          <p:cNvPr id="1970395244" name="Freeform 5"/>
          <p:cNvSpPr/>
          <p:nvPr/>
        </p:nvSpPr>
        <p:spPr bwMode="auto">
          <a:xfrm rot="0" flipH="0" flipV="0">
            <a:off x="239268" y="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1028700" h="1028700" fill="norm" stroke="1" extrusionOk="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137239965" name="TextBox 7"/>
          <p:cNvSpPr txBox="1"/>
          <p:nvPr/>
        </p:nvSpPr>
        <p:spPr bwMode="auto">
          <a:xfrm rot="0" flipH="0" flipV="0">
            <a:off x="287497" y="1307414"/>
            <a:ext cx="4973091" cy="219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  <a:defRPr/>
            </a:pPr>
            <a:r>
              <a:rPr lang="en-US" sz="4800" b="1" spc="-250">
                <a:solidFill>
                  <a:srgbClr val="F3F6FA"/>
                </a:solidFill>
                <a:latin typeface="Paalalabas Wide"/>
                <a:ea typeface="Paalalabas Wide"/>
                <a:cs typeface="Paalalabas Wide"/>
              </a:rPr>
              <a:t>Lightning</a:t>
            </a:r>
            <a:endParaRPr sz="4800" b="1"/>
          </a:p>
          <a:p>
            <a:pPr marL="0" lvl="0" indent="0" algn="l">
              <a:lnSpc>
                <a:spcPct val="100000"/>
              </a:lnSpc>
              <a:defRPr/>
            </a:pPr>
            <a:r>
              <a:rPr lang="en-US" sz="4800" b="1" spc="-250">
                <a:solidFill>
                  <a:srgbClr val="F3F6FA"/>
                </a:solidFill>
                <a:latin typeface="Paalalabas Wide"/>
                <a:ea typeface="Paalalabas Wide"/>
                <a:cs typeface="Paalalabas Wide"/>
              </a:rPr>
              <a:t>Detection</a:t>
            </a:r>
            <a:endParaRPr sz="4800" b="1"/>
          </a:p>
          <a:p>
            <a:pPr marL="0" lvl="0" indent="0" algn="l">
              <a:lnSpc>
                <a:spcPct val="100000"/>
              </a:lnSpc>
              <a:defRPr/>
            </a:pPr>
            <a:r>
              <a:rPr lang="en-US" sz="4800" b="1" spc="-250">
                <a:solidFill>
                  <a:srgbClr val="F3F6FA"/>
                </a:solidFill>
                <a:latin typeface="Paalalabas Wide"/>
                <a:ea typeface="Paalalabas Wide"/>
                <a:cs typeface="Paalalabas Wide"/>
              </a:rPr>
              <a:t>System</a:t>
            </a:r>
            <a:endParaRPr sz="4800" b="1"/>
          </a:p>
        </p:txBody>
      </p:sp>
      <p:sp>
        <p:nvSpPr>
          <p:cNvPr id="1823060274" name="TextBox 8"/>
          <p:cNvSpPr txBox="1"/>
          <p:nvPr/>
        </p:nvSpPr>
        <p:spPr bwMode="auto">
          <a:xfrm rot="0" flipH="0" flipV="0">
            <a:off x="-227847" y="3416994"/>
            <a:ext cx="4474856" cy="453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6"/>
              </a:lnSpc>
              <a:spcBef>
                <a:spcPts val="0"/>
              </a:spcBef>
              <a:defRPr/>
            </a:pPr>
            <a:r>
              <a:rPr lang="en-US" sz="1400" b="1" i="1" spc="99">
                <a:solidFill>
                  <a:srgbClr val="F3F6FA"/>
                </a:solidFill>
                <a:latin typeface="Be Vietnam"/>
                <a:ea typeface="Be Vietnam"/>
                <a:cs typeface="Be Vietnam"/>
              </a:rPr>
              <a:t>Real-Time Atmospheric Intelligence</a:t>
            </a:r>
            <a:endParaRPr sz="1400" b="1" i="1"/>
          </a:p>
        </p:txBody>
      </p:sp>
      <p:sp>
        <p:nvSpPr>
          <p:cNvPr id="1479427235" name="TextBox 9"/>
          <p:cNvSpPr txBox="1"/>
          <p:nvPr/>
        </p:nvSpPr>
        <p:spPr bwMode="auto">
          <a:xfrm rot="0" flipH="0" flipV="0">
            <a:off x="894044" y="95663"/>
            <a:ext cx="2016190" cy="366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n-ZA" sz="2400" b="1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STRATUS</a:t>
            </a:r>
            <a:endParaRPr>
              <a:latin typeface="Arial Black"/>
              <a:cs typeface="Arial Black"/>
            </a:endParaRPr>
          </a:p>
        </p:txBody>
      </p:sp>
      <p:pic>
        <p:nvPicPr>
          <p:cNvPr id="6735649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260589" y="1651803"/>
            <a:ext cx="3696542" cy="1933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78927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  <a:endParaRPr sz="2800"/>
          </a:p>
        </p:txBody>
      </p:sp>
      <p:sp>
        <p:nvSpPr>
          <p:cNvPr id="882183069" name="Text 1"/>
          <p:cNvSpPr/>
          <p:nvPr/>
        </p:nvSpPr>
        <p:spPr bwMode="auto">
          <a:xfrm flipH="0" flipV="0">
            <a:off x="3666713" y="1815657"/>
            <a:ext cx="5124208" cy="2813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algn="l">
              <a:lnSpc>
                <a:spcPts val="3828"/>
              </a:lnSpc>
              <a:defRPr/>
            </a:pPr>
            <a:r>
              <a:rPr lang="en-US" sz="2000" b="1" i="0" u="none" strike="noStrike" cap="none" spc="108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2000" b="1" i="0" u="none" strike="noStrike" cap="none" spc="108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standalone, solar-powered lightning detection system </a:t>
            </a:r>
            <a:r>
              <a:rPr lang="en-ZA" sz="2000" b="1" i="0" u="none" strike="noStrike" cap="none" spc="108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sending data to a cloud platform with configurable alerts in real-time</a:t>
            </a:r>
            <a:endParaRPr sz="1600">
              <a:solidFill>
                <a:schemeClr val="tx1"/>
              </a:solidFill>
              <a:latin typeface="Calibri"/>
              <a:cs typeface="Calibri"/>
            </a:endParaRPr>
          </a:p>
          <a:p>
            <a:pPr lvl="1" algn="l">
              <a:lnSpc>
                <a:spcPts val="3828"/>
              </a:lnSpc>
              <a:defRPr/>
            </a:pPr>
            <a:endParaRPr sz="18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817399022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  <p:sp>
        <p:nvSpPr>
          <p:cNvPr id="1207250014" name="Freeform 3"/>
          <p:cNvSpPr/>
          <p:nvPr/>
        </p:nvSpPr>
        <p:spPr bwMode="auto">
          <a:xfrm rot="0" flipH="0" flipV="0">
            <a:off x="11599521" y="0"/>
            <a:ext cx="7197702" cy="9591396"/>
          </a:xfrm>
          <a:custGeom>
            <a:avLst/>
            <a:gdLst/>
            <a:ahLst/>
            <a:cxnLst/>
            <a:rect l="l" t="t" r="r" b="b"/>
            <a:pathLst>
              <a:path w="7197703" h="9591397" fill="norm" stroke="1" extrusionOk="0">
                <a:moveTo>
                  <a:pt x="0" y="0"/>
                </a:moveTo>
                <a:lnTo>
                  <a:pt x="7197704" y="0"/>
                </a:lnTo>
                <a:lnTo>
                  <a:pt x="7197704" y="9591397"/>
                </a:lnTo>
                <a:lnTo>
                  <a:pt x="0" y="9591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683947460" name="Freeform 3"/>
          <p:cNvSpPr/>
          <p:nvPr/>
        </p:nvSpPr>
        <p:spPr bwMode="auto">
          <a:xfrm rot="0" flipH="0" flipV="0">
            <a:off x="11751921" y="152399"/>
            <a:ext cx="7197702" cy="9591396"/>
          </a:xfrm>
          <a:custGeom>
            <a:avLst/>
            <a:gdLst/>
            <a:ahLst/>
            <a:cxnLst/>
            <a:rect l="l" t="t" r="r" b="b"/>
            <a:pathLst>
              <a:path w="7197703" h="9591397" fill="norm" stroke="1" extrusionOk="0">
                <a:moveTo>
                  <a:pt x="0" y="0"/>
                </a:moveTo>
                <a:lnTo>
                  <a:pt x="7197704" y="0"/>
                </a:lnTo>
                <a:lnTo>
                  <a:pt x="7197704" y="9591397"/>
                </a:lnTo>
                <a:lnTo>
                  <a:pt x="0" y="9591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281897057" name="Freeform 3"/>
          <p:cNvSpPr/>
          <p:nvPr/>
        </p:nvSpPr>
        <p:spPr bwMode="auto">
          <a:xfrm rot="0" flipH="0" flipV="0">
            <a:off x="11904321" y="304799"/>
            <a:ext cx="7197702" cy="9591396"/>
          </a:xfrm>
          <a:custGeom>
            <a:avLst/>
            <a:gdLst/>
            <a:ahLst/>
            <a:cxnLst/>
            <a:rect l="l" t="t" r="r" b="b"/>
            <a:pathLst>
              <a:path w="7197703" h="9591397" fill="norm" stroke="1" extrusionOk="0">
                <a:moveTo>
                  <a:pt x="0" y="0"/>
                </a:moveTo>
                <a:lnTo>
                  <a:pt x="7197704" y="0"/>
                </a:lnTo>
                <a:lnTo>
                  <a:pt x="7197704" y="9591397"/>
                </a:lnTo>
                <a:lnTo>
                  <a:pt x="0" y="9591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670875252" name=""/>
          <p:cNvSpPr/>
          <p:nvPr/>
        </p:nvSpPr>
        <p:spPr bwMode="auto">
          <a:xfrm rot="0" flipH="0" flipV="0">
            <a:off x="3750949" y="1768153"/>
            <a:ext cx="4991582" cy="2415612"/>
          </a:xfrm>
          <a:prstGeom prst="rect">
            <a:avLst/>
          </a:prstGeom>
          <a:noFill/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91760330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-16845" y="429951"/>
            <a:ext cx="3550769" cy="473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60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949083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chemeClr val="bg1"/>
                </a:solidFill>
              </a:rPr>
              <a:t>WHY LIGHTING DETECTION IS CRITICAL</a:t>
            </a:r>
            <a:endParaRPr sz="2800"/>
          </a:p>
        </p:txBody>
      </p:sp>
      <p:sp>
        <p:nvSpPr>
          <p:cNvPr id="62594050" name="Text 1"/>
          <p:cNvSpPr/>
          <p:nvPr/>
        </p:nvSpPr>
        <p:spPr bwMode="auto">
          <a:xfrm flipH="0" flipV="0">
            <a:off x="290601" y="1418501"/>
            <a:ext cx="8668955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• </a:t>
            </a:r>
            <a:r>
              <a:rPr lang="en-ZA" sz="2000"/>
              <a:t>E</a:t>
            </a:r>
            <a:r>
              <a:rPr lang="en-US" sz="2000"/>
              <a:t>quipment damage, personnel injury, and</a:t>
            </a:r>
            <a:r>
              <a:rPr lang="en-ZA" sz="2000"/>
              <a:t> </a:t>
            </a:r>
            <a:r>
              <a:rPr lang="en-US" sz="2000"/>
              <a:t>operational downtime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• Mining and industrial operations face elevated risk exposure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• Early warning enables proactive evacuation and equipment </a:t>
            </a:r>
            <a:r>
              <a:rPr lang="en-US" sz="2000"/>
              <a:t>protection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• Regulatory compliance</a:t>
            </a:r>
            <a:r>
              <a:rPr lang="en-ZA" sz="2000"/>
              <a:t> </a:t>
            </a:r>
            <a:r>
              <a:rPr lang="en-US" sz="2000"/>
              <a:t>and safety management requirements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• ROI: Prevention costs vs. incident costs (damage, injury, downtime)</a:t>
            </a:r>
            <a:endParaRPr sz="2000"/>
          </a:p>
          <a:p>
            <a:pPr>
              <a:lnSpc>
                <a:spcPct val="114999"/>
              </a:lnSpc>
              <a:defRPr/>
            </a:pPr>
            <a:endParaRPr sz="2000"/>
          </a:p>
          <a:p>
            <a:pPr>
              <a:defRPr/>
            </a:pPr>
            <a:endParaRPr sz="2000"/>
          </a:p>
        </p:txBody>
      </p:sp>
      <p:sp>
        <p:nvSpPr>
          <p:cNvPr id="636185689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594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594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114388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chemeClr val="bg1"/>
                </a:solidFill>
              </a:rPr>
              <a:t>LDS TECHNICAL SPECS</a:t>
            </a:r>
            <a:endParaRPr sz="2800"/>
          </a:p>
        </p:txBody>
      </p:sp>
      <p:sp>
        <p:nvSpPr>
          <p:cNvPr id="1126075804" name="Text 1"/>
          <p:cNvSpPr/>
          <p:nvPr/>
        </p:nvSpPr>
        <p:spPr bwMode="auto">
          <a:xfrm flipH="0" flipV="0">
            <a:off x="290601" y="1358216"/>
            <a:ext cx="8668955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3596"/>
              </a:lnSpc>
              <a:spcBef>
                <a:spcPts val="0"/>
              </a:spcBef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• Continuous 24/7 detection up to 40 km range</a:t>
            </a:r>
            <a:endParaRPr sz="2000">
              <a:latin typeface="Calibri"/>
              <a:cs typeface="Calibri"/>
            </a:endParaRPr>
          </a:p>
          <a:p>
            <a:pPr algn="l">
              <a:lnSpc>
                <a:spcPts val="3596"/>
              </a:lnSpc>
              <a:spcBef>
                <a:spcPts val="0"/>
              </a:spcBef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• 14-level storm distance estimation (1 to 40 km)</a:t>
            </a:r>
            <a:endParaRPr sz="2000">
              <a:latin typeface="Calibri"/>
              <a:cs typeface="Calibri"/>
            </a:endParaRPr>
          </a:p>
          <a:p>
            <a:pPr algn="l">
              <a:lnSpc>
                <a:spcPts val="3596"/>
              </a:lnSpc>
              <a:spcBef>
                <a:spcPts val="0"/>
              </a:spcBef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• Cloud-to-ground and intra-cloud detection</a:t>
            </a:r>
            <a:endParaRPr sz="2000">
              <a:latin typeface="Calibri"/>
              <a:cs typeface="Calibri"/>
            </a:endParaRPr>
          </a:p>
          <a:p>
            <a:pPr algn="l">
              <a:lnSpc>
                <a:spcPts val="3596"/>
              </a:lnSpc>
              <a:spcBef>
                <a:spcPts val="0"/>
              </a:spcBef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• Configurable EMI rejection for high-noise industrial sites</a:t>
            </a:r>
            <a:endParaRPr sz="2000">
              <a:latin typeface="Calibri"/>
              <a:cs typeface="Calibri"/>
            </a:endParaRPr>
          </a:p>
          <a:p>
            <a:pPr algn="l">
              <a:lnSpc>
                <a:spcPts val="3596"/>
              </a:lnSpc>
              <a:spcBef>
                <a:spcPts val="0"/>
              </a:spcBef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• Solar-powered with lithium-ion battery </a:t>
            </a:r>
            <a:r>
              <a:rPr lang="en-ZA" sz="2000">
                <a:latin typeface="Calibri"/>
                <a:ea typeface="Calibri"/>
                <a:cs typeface="Calibri"/>
              </a:rPr>
              <a:t>reserve</a:t>
            </a:r>
            <a:endParaRPr sz="2000">
              <a:latin typeface="Calibri"/>
              <a:cs typeface="Calibri"/>
            </a:endParaRPr>
          </a:p>
          <a:p>
            <a:pPr algn="l">
              <a:lnSpc>
                <a:spcPts val="3596"/>
              </a:lnSpc>
              <a:spcBef>
                <a:spcPts val="0"/>
              </a:spcBef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• Real-time cloud dashboard</a:t>
            </a:r>
            <a:endParaRPr sz="2000">
              <a:latin typeface="Calibri"/>
              <a:cs typeface="Calibri"/>
            </a:endParaRPr>
          </a:p>
          <a:p>
            <a:pPr algn="l">
              <a:lnSpc>
                <a:spcPts val="3596"/>
              </a:lnSpc>
              <a:spcBef>
                <a:spcPts val="0"/>
              </a:spcBef>
              <a:defRPr/>
            </a:pPr>
            <a:r>
              <a:rPr lang="en-US" sz="2000">
                <a:latin typeface="Calibri"/>
                <a:ea typeface="Calibri"/>
                <a:cs typeface="Calibri"/>
              </a:rPr>
              <a:t>• Configurable proximity alerts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9946559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0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075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075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009463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chemeClr val="bg1"/>
                </a:solidFill>
              </a:rPr>
              <a:t>AS3935</a:t>
            </a:r>
            <a:endParaRPr sz="2800"/>
          </a:p>
        </p:txBody>
      </p:sp>
      <p:sp>
        <p:nvSpPr>
          <p:cNvPr id="398632659" name="Text 1"/>
          <p:cNvSpPr/>
          <p:nvPr/>
        </p:nvSpPr>
        <p:spPr bwMode="auto">
          <a:xfrm flipH="0" flipV="0">
            <a:off x="290601" y="1201475"/>
            <a:ext cx="8668955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Maximum detection range: 40 km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Distance estimation: 14 discrete levels plus out-of-range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Reported distances (km): 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ZA" sz="2000"/>
              <a:t>     </a:t>
            </a:r>
            <a:r>
              <a:rPr lang="en-ZA" sz="2000"/>
              <a:t>  </a:t>
            </a:r>
            <a:r>
              <a:rPr lang="en-ZA" sz="2000"/>
              <a:t> </a:t>
            </a:r>
            <a:r>
              <a:rPr lang="en-US" sz="2000"/>
              <a:t>1, 5, 6, 8, 10, 12, 14, 17, 20, 24, 27, 31, 34, 37, 40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Distance accuracy: approximately ±4 km (manufacturer rated)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Detection types: cloud-to-ground and intra-cloud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Lightning energy: 21-bit relative measurement per event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Antenna frequency: 500 kHz (about ±3.5%)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Noise floor levels: 0–7 (programmable)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Minimum strike threshold: selectable 1, 5, 9, or 16 events</a:t>
            </a:r>
            <a:endParaRPr sz="2000"/>
          </a:p>
          <a:p>
            <a:pPr marL="460107" indent="-460107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000"/>
              <a:t>Event latency: under 2 seconds (detection to log)</a:t>
            </a:r>
            <a:endParaRPr sz="2000"/>
          </a:p>
          <a:p>
            <a:pPr>
              <a:lnSpc>
                <a:spcPct val="100000"/>
              </a:lnSpc>
              <a:defRPr/>
            </a:pPr>
            <a:endParaRPr sz="2000"/>
          </a:p>
        </p:txBody>
      </p:sp>
      <p:sp>
        <p:nvSpPr>
          <p:cNvPr id="1812165181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  <p:sp>
        <p:nvSpPr>
          <p:cNvPr id="158724823" name="Freeform 4"/>
          <p:cNvSpPr/>
          <p:nvPr/>
        </p:nvSpPr>
        <p:spPr bwMode="auto">
          <a:xfrm rot="0" flipH="0" flipV="0">
            <a:off x="11041729" y="5393454"/>
            <a:ext cx="8058850" cy="4225709"/>
          </a:xfrm>
          <a:custGeom>
            <a:avLst/>
            <a:gdLst/>
            <a:ahLst/>
            <a:cxnLst/>
            <a:rect l="l" t="t" r="r" b="b"/>
            <a:pathLst>
              <a:path w="9390511" h="4913007" fill="norm" stroke="1" extrusionOk="0">
                <a:moveTo>
                  <a:pt x="0" y="0"/>
                </a:moveTo>
                <a:lnTo>
                  <a:pt x="9390511" y="0"/>
                </a:lnTo>
                <a:lnTo>
                  <a:pt x="9390511" y="4913006"/>
                </a:lnTo>
                <a:lnTo>
                  <a:pt x="0" y="4913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9"/>
            </a:blip>
            <a:tile/>
          </a:blipFill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3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632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632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434337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chemeClr val="bg1"/>
                </a:solidFill>
              </a:rPr>
              <a:t>SYSTEM HARDWARE AND CONNECTIVITY</a:t>
            </a:r>
            <a:endParaRPr sz="2800"/>
          </a:p>
        </p:txBody>
      </p:sp>
      <p:sp>
        <p:nvSpPr>
          <p:cNvPr id="301225909" name="Text 1"/>
          <p:cNvSpPr/>
          <p:nvPr/>
        </p:nvSpPr>
        <p:spPr bwMode="auto">
          <a:xfrm flipH="0" flipV="0">
            <a:off x="133860" y="1430558"/>
            <a:ext cx="8668955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sz="2000"/>
              <a:t>Controller</a:t>
            </a:r>
            <a:r>
              <a:rPr lang="en-ZA" sz="2000"/>
              <a:t>: </a:t>
            </a:r>
            <a:r>
              <a:rPr sz="2000"/>
              <a:t>Quad-core ARM Cortex-A53 SBC          </a:t>
            </a:r>
            <a:endParaRPr sz="2000"/>
          </a:p>
          <a:p>
            <a:pPr>
              <a:defRPr/>
            </a:pPr>
            <a:r>
              <a:rPr sz="2000"/>
              <a:t>Sensor Interface</a:t>
            </a:r>
            <a:r>
              <a:rPr lang="en-ZA" sz="2000"/>
              <a:t>: </a:t>
            </a:r>
            <a:r>
              <a:rPr sz="2000"/>
              <a:t>SPI Mode 1, 1 MHz  </a:t>
            </a:r>
            <a:endParaRPr sz="2000"/>
          </a:p>
          <a:p>
            <a:pPr>
              <a:defRPr/>
            </a:pPr>
            <a:r>
              <a:rPr lang="en-ZA" sz="2000"/>
              <a:t>Lightning Sensor: AS3935 (ScioSense)</a:t>
            </a:r>
            <a:r>
              <a:rPr sz="2000"/>
              <a:t>                  </a:t>
            </a:r>
            <a:endParaRPr sz="2000"/>
          </a:p>
          <a:p>
            <a:pPr>
              <a:defRPr/>
            </a:pPr>
            <a:r>
              <a:rPr sz="2000"/>
              <a:t>Connectivity</a:t>
            </a:r>
            <a:r>
              <a:rPr lang="en-ZA" sz="2000"/>
              <a:t>: </a:t>
            </a:r>
            <a:r>
              <a:rPr sz="2000"/>
              <a:t>2.4 GHz 802.11 b/g/n Wi-Fi   </a:t>
            </a:r>
            <a:endParaRPr sz="2000"/>
          </a:p>
          <a:p>
            <a:pPr>
              <a:defRPr/>
            </a:pPr>
            <a:r>
              <a:rPr sz="2000"/>
              <a:t>Solar</a:t>
            </a:r>
            <a:r>
              <a:rPr lang="en-ZA" sz="2000"/>
              <a:t>: </a:t>
            </a:r>
            <a:r>
              <a:rPr sz="2000"/>
              <a:t>6–24 V DC input             </a:t>
            </a:r>
            <a:endParaRPr sz="2000"/>
          </a:p>
          <a:p>
            <a:pPr>
              <a:defRPr/>
            </a:pPr>
            <a:r>
              <a:rPr sz="2000"/>
              <a:t>Charge Controller</a:t>
            </a:r>
            <a:r>
              <a:rPr lang="en-ZA" sz="2000"/>
              <a:t>: </a:t>
            </a:r>
            <a:r>
              <a:rPr sz="2000"/>
              <a:t>MPPT (Maximum Power Point Tracking) </a:t>
            </a:r>
            <a:endParaRPr sz="2000"/>
          </a:p>
          <a:p>
            <a:pPr>
              <a:defRPr/>
            </a:pPr>
            <a:r>
              <a:rPr sz="2000"/>
              <a:t>Batter</a:t>
            </a:r>
            <a:r>
              <a:rPr lang="en-ZA" sz="2000"/>
              <a:t>y:</a:t>
            </a:r>
            <a:r>
              <a:rPr sz="2000"/>
              <a:t> 3× 18650 Li-ion parallel                    </a:t>
            </a:r>
            <a:endParaRPr sz="2000"/>
          </a:p>
          <a:p>
            <a:pPr>
              <a:defRPr/>
            </a:pPr>
            <a:r>
              <a:rPr lang="en-ZA" sz="2000"/>
              <a:t>P</a:t>
            </a:r>
            <a:r>
              <a:rPr sz="2000"/>
              <a:t>rotection</a:t>
            </a:r>
            <a:r>
              <a:rPr lang="en-ZA" sz="2000"/>
              <a:t>: O</a:t>
            </a:r>
            <a:r>
              <a:rPr sz="2000"/>
              <a:t>ver-charge, over-discharge, over-temperature</a:t>
            </a:r>
            <a:endParaRPr sz="2000"/>
          </a:p>
          <a:p>
            <a:pPr>
              <a:defRPr/>
            </a:pPr>
            <a:r>
              <a:rPr sz="2000"/>
              <a:t>Minimum recommended panel: 5 W</a:t>
            </a:r>
            <a:endParaRPr sz="2000"/>
          </a:p>
          <a:p>
            <a:pPr>
              <a:defRPr/>
            </a:pPr>
            <a:r>
              <a:rPr sz="2000"/>
              <a:t>System is energy-positive with 4–6 peak sun hours per day</a:t>
            </a:r>
            <a:endParaRPr sz="2000"/>
          </a:p>
          <a:p>
            <a:pPr>
              <a:defRPr/>
            </a:pPr>
            <a:r>
              <a:rPr sz="2000"/>
              <a:t>Compatible with existing solar infrastructure or dedicated panel</a:t>
            </a:r>
            <a:endParaRPr sz="2000"/>
          </a:p>
          <a:p>
            <a:pPr>
              <a:defRPr/>
            </a:pPr>
            <a:endParaRPr sz="2000"/>
          </a:p>
        </p:txBody>
      </p:sp>
      <p:sp>
        <p:nvSpPr>
          <p:cNvPr id="1873897572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  <p:sp>
        <p:nvSpPr>
          <p:cNvPr id="2040808457" name="Freeform 4"/>
          <p:cNvSpPr/>
          <p:nvPr/>
        </p:nvSpPr>
        <p:spPr bwMode="auto">
          <a:xfrm rot="0" flipH="0" flipV="0">
            <a:off x="11041729" y="5393454"/>
            <a:ext cx="8058850" cy="4225709"/>
          </a:xfrm>
          <a:custGeom>
            <a:avLst/>
            <a:gdLst/>
            <a:ahLst/>
            <a:cxnLst/>
            <a:rect l="l" t="t" r="r" b="b"/>
            <a:pathLst>
              <a:path w="9390511" h="4913007" fill="norm" stroke="1" extrusionOk="0">
                <a:moveTo>
                  <a:pt x="0" y="0"/>
                </a:moveTo>
                <a:lnTo>
                  <a:pt x="9390511" y="0"/>
                </a:lnTo>
                <a:lnTo>
                  <a:pt x="9390511" y="4913006"/>
                </a:lnTo>
                <a:lnTo>
                  <a:pt x="0" y="4913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9"/>
            </a:blip>
            <a:tile/>
          </a:blipFill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2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456751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chemeClr val="bg1"/>
                </a:solidFill>
              </a:rPr>
              <a:t>ENCLOSURE AND MOUNTING OF UNIT</a:t>
            </a:r>
            <a:endParaRPr sz="2800"/>
          </a:p>
        </p:txBody>
      </p:sp>
      <p:sp>
        <p:nvSpPr>
          <p:cNvPr id="652779020" name="Text 1"/>
          <p:cNvSpPr/>
          <p:nvPr/>
        </p:nvSpPr>
        <p:spPr bwMode="auto">
          <a:xfrm flipH="0" flipV="0">
            <a:off x="290601" y="1358216"/>
            <a:ext cx="8668955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sz="2000"/>
              <a:t>Material</a:t>
            </a:r>
            <a:r>
              <a:rPr lang="en-ZA" sz="2000"/>
              <a:t>: A</a:t>
            </a:r>
            <a:r>
              <a:rPr sz="2000"/>
              <a:t>BS plastic (non-metallic, RF transparent)</a:t>
            </a:r>
            <a:endParaRPr sz="2000"/>
          </a:p>
          <a:p>
            <a:pPr>
              <a:defRPr/>
            </a:pPr>
            <a:r>
              <a:rPr sz="2000"/>
              <a:t>External Dimensions</a:t>
            </a:r>
            <a:r>
              <a:rPr lang="en-ZA" sz="2000"/>
              <a:t>: </a:t>
            </a:r>
            <a:r>
              <a:rPr sz="2000"/>
              <a:t>150 × 150 × 89 mm (5.9″ × 5.9″ × 3.5″) </a:t>
            </a:r>
            <a:endParaRPr sz="2000"/>
          </a:p>
          <a:p>
            <a:pPr>
              <a:defRPr/>
            </a:pPr>
            <a:r>
              <a:rPr sz="2000"/>
              <a:t>Ingress Protection</a:t>
            </a:r>
            <a:r>
              <a:rPr lang="en-ZA" sz="2000"/>
              <a:t>:</a:t>
            </a:r>
            <a:r>
              <a:rPr sz="2000"/>
              <a:t> IP67 (dust-tight, short-term submersion) </a:t>
            </a:r>
            <a:endParaRPr sz="2000"/>
          </a:p>
          <a:p>
            <a:pPr>
              <a:defRPr/>
            </a:pPr>
            <a:r>
              <a:rPr sz="2000"/>
              <a:t>Seal</a:t>
            </a:r>
            <a:r>
              <a:rPr lang="en-ZA" sz="2000"/>
              <a:t>: </a:t>
            </a:r>
            <a:r>
              <a:rPr sz="2000"/>
              <a:t>Silicone gasket                            </a:t>
            </a:r>
            <a:endParaRPr sz="2000"/>
          </a:p>
          <a:p>
            <a:pPr>
              <a:defRPr/>
            </a:pPr>
            <a:r>
              <a:rPr sz="2000"/>
              <a:t>Closure</a:t>
            </a:r>
            <a:r>
              <a:rPr lang="en-ZA" sz="2000"/>
              <a:t>: </a:t>
            </a:r>
            <a:r>
              <a:rPr sz="2000"/>
              <a:t>Stainless steel hinged latches             </a:t>
            </a:r>
            <a:endParaRPr sz="2000"/>
          </a:p>
          <a:p>
            <a:pPr>
              <a:defRPr/>
            </a:pPr>
            <a:r>
              <a:rPr sz="2000"/>
              <a:t>Cable Entry</a:t>
            </a:r>
            <a:r>
              <a:rPr lang="en-ZA" sz="2000"/>
              <a:t>: </a:t>
            </a:r>
            <a:r>
              <a:rPr sz="2000"/>
              <a:t>PG9 IP68-rated cable glands (bottom entry)</a:t>
            </a:r>
            <a:endParaRPr sz="2000"/>
          </a:p>
          <a:p>
            <a:pPr>
              <a:defRPr/>
            </a:pPr>
            <a:r>
              <a:rPr sz="2000"/>
              <a:t>Mounting</a:t>
            </a:r>
            <a:r>
              <a:rPr lang="en-ZA" sz="2000"/>
              <a:t>: Back mounting plate with 2 U-Bolts</a:t>
            </a:r>
            <a:endParaRPr sz="2000"/>
          </a:p>
          <a:p>
            <a:pPr>
              <a:defRPr/>
            </a:pPr>
            <a:r>
              <a:rPr sz="2000"/>
              <a:t>Mast Fit</a:t>
            </a:r>
            <a:r>
              <a:rPr lang="en-ZA" sz="2000"/>
              <a:t>: </a:t>
            </a:r>
            <a:r>
              <a:rPr sz="2000"/>
              <a:t>30–50 mm diameter (U-</a:t>
            </a:r>
            <a:r>
              <a:rPr lang="en-ZA" sz="2000"/>
              <a:t>B</a:t>
            </a:r>
            <a:r>
              <a:rPr sz="2000"/>
              <a:t>olt</a:t>
            </a:r>
            <a:r>
              <a:rPr lang="en-ZA" sz="2000"/>
              <a:t>s with V-Blocks</a:t>
            </a:r>
            <a:r>
              <a:rPr sz="2000"/>
              <a:t>)        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</p:txBody>
      </p:sp>
      <p:sp>
        <p:nvSpPr>
          <p:cNvPr id="713994890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  <p:sp>
        <p:nvSpPr>
          <p:cNvPr id="163614113" name="Freeform 4"/>
          <p:cNvSpPr/>
          <p:nvPr/>
        </p:nvSpPr>
        <p:spPr bwMode="auto">
          <a:xfrm rot="0" flipH="0" flipV="0">
            <a:off x="11041729" y="5393454"/>
            <a:ext cx="8058850" cy="4225709"/>
          </a:xfrm>
          <a:custGeom>
            <a:avLst/>
            <a:gdLst/>
            <a:ahLst/>
            <a:cxnLst/>
            <a:rect l="l" t="t" r="r" b="b"/>
            <a:pathLst>
              <a:path w="9390511" h="4913007" fill="norm" stroke="1" extrusionOk="0">
                <a:moveTo>
                  <a:pt x="0" y="0"/>
                </a:moveTo>
                <a:lnTo>
                  <a:pt x="9390511" y="0"/>
                </a:lnTo>
                <a:lnTo>
                  <a:pt x="9390511" y="4913006"/>
                </a:lnTo>
                <a:lnTo>
                  <a:pt x="0" y="4913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9"/>
            </a:blip>
            <a:tile/>
          </a:blipFill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77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6527790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52779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652779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286882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chemeClr val="bg1"/>
                </a:solidFill>
              </a:rPr>
              <a:t>LDS CALIBRATION</a:t>
            </a:r>
            <a:endParaRPr sz="2800"/>
          </a:p>
        </p:txBody>
      </p:sp>
      <p:sp>
        <p:nvSpPr>
          <p:cNvPr id="1454736706" name="Text 1"/>
          <p:cNvSpPr/>
          <p:nvPr/>
        </p:nvSpPr>
        <p:spPr bwMode="auto">
          <a:xfrm flipH="0" flipV="0">
            <a:off x="290601" y="1358216"/>
            <a:ext cx="8668955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T</a:t>
            </a:r>
            <a:r>
              <a:rPr lang="en-US" sz="2000"/>
              <a:t>he lightning sensor has an internal antenna that must be tuned to</a:t>
            </a:r>
            <a:r>
              <a:rPr lang="en-US" sz="2000"/>
              <a:t> exactly 500 kHz frequency (like tuning a radio to the correct station). 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Proper tuning ensures accurate lightning detection and prevents false alarms.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Calibration happens automatically every </a:t>
            </a:r>
            <a:r>
              <a:rPr lang="en-ZA" sz="2000"/>
              <a:t>12</a:t>
            </a:r>
            <a:r>
              <a:rPr lang="en-US" sz="2000"/>
              <a:t> hours</a:t>
            </a:r>
            <a:r>
              <a:rPr lang="en-ZA" sz="2000"/>
              <a:t> (configurable)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Temperature change of 10°C triggers immediate recalibration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No technician visits required for routine calibration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No user action needed - system manages itself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r>
              <a:rPr lang="en-US" sz="2000"/>
              <a:t>Takes less than 5 seconds (does not interrupt detection)</a:t>
            </a: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endParaRPr sz="2000"/>
          </a:p>
          <a:p>
            <a:pPr>
              <a:lnSpc>
                <a:spcPct val="114999"/>
              </a:lnSpc>
              <a:defRPr/>
            </a:pPr>
            <a:endParaRPr sz="2000"/>
          </a:p>
        </p:txBody>
      </p:sp>
      <p:sp>
        <p:nvSpPr>
          <p:cNvPr id="1828370083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3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454736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54736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454736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212833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chemeClr val="bg1"/>
                </a:solidFill>
              </a:rPr>
              <a:t>LDS INSTALLATION REQUIREMENTS</a:t>
            </a:r>
            <a:endParaRPr sz="2800"/>
          </a:p>
        </p:txBody>
      </p:sp>
      <p:sp>
        <p:nvSpPr>
          <p:cNvPr id="1324542796" name="Text 1"/>
          <p:cNvSpPr/>
          <p:nvPr/>
        </p:nvSpPr>
        <p:spPr bwMode="auto">
          <a:xfrm flipH="0" flipV="0">
            <a:off x="13290" y="1358216"/>
            <a:ext cx="8946265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741078" lvl="1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000"/>
              <a:t>Weather station mast or mounting pole (30-50 mm diameter)</a:t>
            </a:r>
            <a:endParaRPr sz="2000"/>
          </a:p>
          <a:p>
            <a:pPr marL="741078" lvl="1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000"/>
              <a:t>Clear sky exposure (no overhead metallic structures above sensor)</a:t>
            </a:r>
            <a:endParaRPr sz="2000"/>
          </a:p>
          <a:p>
            <a:pPr marL="741078" lvl="1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000"/>
              <a:t>Minimum 10 m from large metal objects</a:t>
            </a:r>
            <a:endParaRPr sz="2000"/>
          </a:p>
          <a:p>
            <a:pPr marL="741078" lvl="1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000"/>
              <a:t>Height: 3-6</a:t>
            </a:r>
            <a:r>
              <a:rPr lang="en-ZA" sz="2000"/>
              <a:t>m</a:t>
            </a:r>
            <a:r>
              <a:rPr lang="en-US" sz="2000"/>
              <a:t> above ground level (optimal detection range)</a:t>
            </a:r>
            <a:endParaRPr sz="2000"/>
          </a:p>
          <a:p>
            <a:pPr marL="741078" lvl="1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000"/>
              <a:t>2.4 GHz Wi-Fi coverage at installation poin</a:t>
            </a:r>
            <a:r>
              <a:rPr lang="en-ZA" sz="2000"/>
              <a:t>t</a:t>
            </a:r>
            <a:endParaRPr sz="2000"/>
          </a:p>
          <a:p>
            <a:pPr marL="741078" lvl="1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000"/>
              <a:t>Power option 1: Solar panel (6-24 V DC, minimum </a:t>
            </a:r>
            <a:r>
              <a:rPr lang="en-ZA" sz="2000"/>
              <a:t>10W</a:t>
            </a:r>
            <a:r>
              <a:rPr lang="en-US" sz="2000"/>
              <a:t>)</a:t>
            </a:r>
            <a:endParaRPr sz="2000"/>
          </a:p>
          <a:p>
            <a:pPr marL="741078" lvl="1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000"/>
              <a:t>Power option 2: Existing solar infrastructu</a:t>
            </a:r>
            <a:r>
              <a:rPr lang="en-ZA" sz="2000"/>
              <a:t>re</a:t>
            </a:r>
            <a:endParaRPr sz="2000"/>
          </a:p>
          <a:p>
            <a:pPr marL="741078" lvl="1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000"/>
              <a:t>Power option </a:t>
            </a:r>
            <a:r>
              <a:rPr lang="en-ZA" sz="2000"/>
              <a:t>3</a:t>
            </a:r>
            <a:r>
              <a:rPr lang="en-US" sz="2000"/>
              <a:t>: </a:t>
            </a:r>
            <a:r>
              <a:rPr lang="en-ZA" sz="2000"/>
              <a:t>A</a:t>
            </a:r>
            <a:r>
              <a:rPr lang="en-ZA" sz="2000"/>
              <a:t>C/DC Adapter (220VAC Supply)</a:t>
            </a:r>
            <a:r>
              <a:rPr lang="en-US" sz="2000"/>
              <a:t> </a:t>
            </a:r>
            <a:endParaRPr sz="2000"/>
          </a:p>
          <a:p>
            <a:pPr marL="261849" indent="-261849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endParaRPr sz="2000"/>
          </a:p>
          <a:p>
            <a:pPr marL="261849" indent="-261849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endParaRPr sz="2000"/>
          </a:p>
          <a:p>
            <a:pPr algn="l">
              <a:lnSpc>
                <a:spcPct val="114999"/>
              </a:lnSpc>
              <a:spcBef>
                <a:spcPts val="0"/>
              </a:spcBef>
              <a:defRPr/>
            </a:pPr>
            <a:endParaRPr sz="2000"/>
          </a:p>
          <a:p>
            <a:pPr>
              <a:lnSpc>
                <a:spcPct val="114999"/>
              </a:lnSpc>
              <a:defRPr/>
            </a:pPr>
            <a:endParaRPr sz="2000"/>
          </a:p>
          <a:p>
            <a:pPr>
              <a:defRPr/>
            </a:pPr>
            <a:endParaRPr sz="2000"/>
          </a:p>
        </p:txBody>
      </p:sp>
      <p:sp>
        <p:nvSpPr>
          <p:cNvPr id="1276652014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54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32454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465902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REAL-TIME CLOUD DASHBOARD</a:t>
            </a:r>
            <a:endParaRPr sz="2800"/>
          </a:p>
        </p:txBody>
      </p:sp>
      <p:sp>
        <p:nvSpPr>
          <p:cNvPr id="514985866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Protocol: HTTPS POST (JSON payload)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Encryption: TLS 1.2+ end-to-end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Authentication: API key per station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Dashboard: Real-time web-based visualisation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Live strike events with distance and energy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Historical data analysis and trends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System health monitoring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Admin Panel with configurable alerts and user management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33396700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endParaRPr/>
          </a:p>
        </p:txBody>
      </p:sp>
      <p:pic>
        <p:nvPicPr>
          <p:cNvPr id="7046451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571550" y="1836124"/>
            <a:ext cx="3220399" cy="735624"/>
          </a:xfrm>
          <a:prstGeom prst="rect">
            <a:avLst/>
          </a:prstGeom>
        </p:spPr>
      </p:pic>
      <p:pic>
        <p:nvPicPr>
          <p:cNvPr id="45560780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98483" y="2500584"/>
            <a:ext cx="1847153" cy="1847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8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1498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905058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MULTI-CHANNEL ALERT DISTRIBUTION</a:t>
            </a:r>
            <a:endParaRPr sz="2800"/>
          </a:p>
        </p:txBody>
      </p:sp>
      <p:sp>
        <p:nvSpPr>
          <p:cNvPr id="188696052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Default Alert Distance: 10 km (configurable 1 to 40 km)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Cooldown Period: 60 minutes (configurable)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Channels: SMS, WhatsApp, Email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Multiple Recipients: Yes (configurable per channel)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Content: Distance, energy, timestamp, station ID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endParaRPr sz="2000">
              <a:latin typeface="Calibri"/>
              <a:cs typeface="Calibri"/>
            </a:endParaRPr>
          </a:p>
        </p:txBody>
      </p:sp>
      <p:sp>
        <p:nvSpPr>
          <p:cNvPr id="1914356643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9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696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696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030438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chemeClr val="bg1"/>
                </a:solidFill>
              </a:rPr>
              <a:t>SMS ALERT EXAMPLE</a:t>
            </a:r>
            <a:endParaRPr sz="2800" b="1">
              <a:solidFill>
                <a:schemeClr val="bg1"/>
              </a:solidFill>
            </a:endParaRPr>
          </a:p>
        </p:txBody>
      </p:sp>
      <p:sp>
        <p:nvSpPr>
          <p:cNvPr id="2115787614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99"/>
              </a:lnSpc>
              <a:buNone/>
              <a:defRPr/>
            </a:pPr>
            <a:endParaRPr sz="2000"/>
          </a:p>
          <a:p>
            <a:pPr marL="0" indent="0">
              <a:lnSpc>
                <a:spcPts val="3199"/>
              </a:lnSpc>
              <a:buNone/>
              <a:defRPr/>
            </a:pPr>
            <a:endParaRPr sz="2000"/>
          </a:p>
        </p:txBody>
      </p:sp>
      <p:sp>
        <p:nvSpPr>
          <p:cNvPr id="212792209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  <p:sp>
        <p:nvSpPr>
          <p:cNvPr id="117510119" name="Freeform 3"/>
          <p:cNvSpPr/>
          <p:nvPr/>
        </p:nvSpPr>
        <p:spPr bwMode="auto">
          <a:xfrm rot="0" flipH="0" flipV="0">
            <a:off x="2560581" y="1085126"/>
            <a:ext cx="6126216" cy="3961917"/>
          </a:xfrm>
          <a:custGeom>
            <a:avLst/>
            <a:gdLst/>
            <a:ahLst/>
            <a:cxnLst/>
            <a:rect l="l" t="t" r="r" b="b"/>
            <a:pathLst>
              <a:path w="11926795" h="7114333" fill="norm" stroke="1" extrusionOk="0">
                <a:moveTo>
                  <a:pt x="0" y="0"/>
                </a:moveTo>
                <a:lnTo>
                  <a:pt x="11926796" y="0"/>
                </a:lnTo>
                <a:lnTo>
                  <a:pt x="11926796" y="7114333"/>
                </a:lnTo>
                <a:lnTo>
                  <a:pt x="0" y="7114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cxnSp>
        <p:nvCxnSpPr>
          <p:cNvPr id="323782336" name=""/>
          <p:cNvCxnSpPr/>
          <p:nvPr/>
        </p:nvCxnSpPr>
        <p:spPr bwMode="auto">
          <a:xfrm rot="5399976" flipH="0" flipV="0">
            <a:off x="7137834" y="1897682"/>
            <a:ext cx="1104943" cy="1078587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055805" name=""/>
          <p:cNvSpPr/>
          <p:nvPr/>
        </p:nvSpPr>
        <p:spPr bwMode="auto">
          <a:xfrm rot="0" flipH="0" flipV="0">
            <a:off x="6897816" y="1109240"/>
            <a:ext cx="2134082" cy="687245"/>
          </a:xfrm>
          <a:prstGeom prst="rect">
            <a:avLst/>
          </a:prstGeom>
          <a:solidFill>
            <a:schemeClr val="bg1"/>
          </a:solidFill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54896" name=""/>
          <p:cNvSpPr txBox="1"/>
          <p:nvPr/>
        </p:nvSpPr>
        <p:spPr bwMode="auto">
          <a:xfrm rot="0" flipH="0" flipV="0">
            <a:off x="6897816" y="1200851"/>
            <a:ext cx="2436466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ZA" sz="16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DATE+TIME THE ALERT </a:t>
            </a:r>
            <a:endParaRPr sz="1600" b="1"/>
          </a:p>
          <a:p>
            <a:pPr>
              <a:defRPr/>
            </a:pPr>
            <a:r>
              <a:rPr lang="en-ZA" sz="16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 TRIGGERED</a:t>
            </a:r>
            <a:endParaRPr sz="1400" b="1"/>
          </a:p>
          <a:p>
            <a:pPr>
              <a:defRPr/>
            </a:pPr>
            <a:endParaRPr sz="1400"/>
          </a:p>
          <a:p>
            <a:pPr>
              <a:defRPr/>
            </a:pPr>
            <a:endParaRPr/>
          </a:p>
        </p:txBody>
      </p:sp>
      <p:cxnSp>
        <p:nvCxnSpPr>
          <p:cNvPr id="935134911" name=""/>
          <p:cNvCxnSpPr/>
          <p:nvPr/>
        </p:nvCxnSpPr>
        <p:spPr bwMode="auto">
          <a:xfrm rot="0" flipH="0" flipV="0">
            <a:off x="2163983" y="2571750"/>
            <a:ext cx="793196" cy="835395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444848" name=""/>
          <p:cNvSpPr/>
          <p:nvPr/>
        </p:nvSpPr>
        <p:spPr bwMode="auto">
          <a:xfrm rot="0" flipH="0" flipV="0">
            <a:off x="53357" y="1380522"/>
            <a:ext cx="1760315" cy="687245"/>
          </a:xfrm>
          <a:prstGeom prst="rect">
            <a:avLst/>
          </a:prstGeom>
          <a:solidFill>
            <a:schemeClr val="bg1">
              <a:alpha val="0"/>
            </a:schemeClr>
          </a:soli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11132963" name=""/>
          <p:cNvSpPr txBox="1"/>
          <p:nvPr/>
        </p:nvSpPr>
        <p:spPr bwMode="auto">
          <a:xfrm rot="0" flipH="0" flipV="0">
            <a:off x="1026075" y="2068746"/>
            <a:ext cx="148840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ZA" sz="1600" b="1"/>
              <a:t>LOCATION</a:t>
            </a:r>
            <a:endParaRPr/>
          </a:p>
        </p:txBody>
      </p:sp>
      <p:sp>
        <p:nvSpPr>
          <p:cNvPr id="1849888027" name=""/>
          <p:cNvSpPr/>
          <p:nvPr/>
        </p:nvSpPr>
        <p:spPr bwMode="auto">
          <a:xfrm rot="0" flipH="0" flipV="0">
            <a:off x="97689" y="1410664"/>
            <a:ext cx="1856772" cy="651075"/>
          </a:xfrm>
          <a:prstGeom prst="rect">
            <a:avLst/>
          </a:prstGeom>
          <a:noFill/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44788225" name=""/>
          <p:cNvCxnSpPr/>
          <p:nvPr/>
        </p:nvCxnSpPr>
        <p:spPr bwMode="auto">
          <a:xfrm rot="0" flipH="0" flipV="1">
            <a:off x="2099145" y="3853405"/>
            <a:ext cx="858034" cy="0"/>
          </a:xfrm>
          <a:prstGeom prst="line">
            <a:avLst/>
          </a:prstGeom>
          <a:ln w="3809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388174" name=""/>
          <p:cNvSpPr/>
          <p:nvPr/>
        </p:nvSpPr>
        <p:spPr bwMode="auto">
          <a:xfrm rot="0" flipH="0" flipV="0">
            <a:off x="97689" y="3426865"/>
            <a:ext cx="1856772" cy="925697"/>
          </a:xfrm>
          <a:prstGeom prst="rect">
            <a:avLst/>
          </a:prstGeom>
          <a:noFill/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15535934" name=""/>
          <p:cNvSpPr txBox="1"/>
          <p:nvPr/>
        </p:nvSpPr>
        <p:spPr bwMode="auto">
          <a:xfrm rot="0" flipH="0" flipV="0">
            <a:off x="97689" y="3487150"/>
            <a:ext cx="2007449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ZA" sz="1600" b="1"/>
              <a:t>DISTANCE OF LIGHTNING </a:t>
            </a:r>
            <a:endParaRPr sz="1600" b="1"/>
          </a:p>
          <a:p>
            <a:pPr>
              <a:defRPr/>
            </a:pPr>
            <a:r>
              <a:rPr lang="en-ZA" sz="1600" b="1"/>
              <a:t>ACTIVITY DETECTED</a:t>
            </a:r>
            <a:r>
              <a:rPr lang="en-ZA" sz="1400" b="1"/>
              <a:t> </a:t>
            </a:r>
            <a:endParaRPr sz="1400" b="1"/>
          </a:p>
          <a:p>
            <a:pPr>
              <a:defRPr/>
            </a:pPr>
            <a:endParaRPr sz="1600"/>
          </a:p>
        </p:txBody>
      </p:sp>
      <p:sp>
        <p:nvSpPr>
          <p:cNvPr id="1273956553" name=""/>
          <p:cNvSpPr/>
          <p:nvPr/>
        </p:nvSpPr>
        <p:spPr bwMode="auto">
          <a:xfrm rot="0" flipH="0" flipV="0">
            <a:off x="767846" y="1884503"/>
            <a:ext cx="1668893" cy="687245"/>
          </a:xfrm>
          <a:prstGeom prst="rect">
            <a:avLst/>
          </a:prstGeom>
          <a:noFill/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76937333" name=""/>
          <p:cNvSpPr txBox="1"/>
          <p:nvPr/>
        </p:nvSpPr>
        <p:spPr bwMode="auto">
          <a:xfrm rot="0" flipH="0" flipV="0">
            <a:off x="205755" y="3091403"/>
            <a:ext cx="20060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634926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COMPREHENSIVE LIGHTNING REPORTS</a:t>
            </a:r>
            <a:endParaRPr sz="2800"/>
          </a:p>
        </p:txBody>
      </p:sp>
      <p:sp>
        <p:nvSpPr>
          <p:cNvPr id="195067189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Automated reports distributed via email (weekly or monthly)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Reports Include: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Total lightning events in period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Closest approach distance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Energy statistics (min/max/average)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System uptime percentage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Formatted PDF attachment with charts and graphs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28335398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067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95067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226219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CALIBRATION PROCESS &amp; REPORTS</a:t>
            </a:r>
            <a:endParaRPr sz="2800"/>
          </a:p>
        </p:txBody>
      </p:sp>
      <p:sp>
        <p:nvSpPr>
          <p:cNvPr id="1688247859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Automatic Calibration: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hecked every 12 hours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also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triggered by 10°C delta.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Frequency verification: 500 kHz (+/- 3.5%).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On-Site Commissioning: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erification of resonance and EMI noise profiling.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Monthly Verification Reports: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System health status, register checks, CPU temp log, and strike counts.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79596747" name="Text 2"/>
          <p:cNvSpPr/>
          <p:nvPr/>
        </p:nvSpPr>
        <p:spPr bwMode="auto">
          <a:xfrm>
            <a:off x="8061766" y="4424181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24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567174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THE LIFESPAN OF THE SENSOR?</a:t>
            </a:r>
            <a:endParaRPr sz="2800"/>
          </a:p>
        </p:txBody>
      </p:sp>
      <p:sp>
        <p:nvSpPr>
          <p:cNvPr id="1796927884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Sensor Lifespan: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AS3935 sensor chip: 20+ year design life (solid-state)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Processor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5 to 10 years typical operational life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Lithium-ion battery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pack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3 to 5 years (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easily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replaceable)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Enclosure and mounting hardware: 10+ years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Expected System Lifecycle: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Primary deployment: 5 to 7 years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Battery replacement cycle: Every 3 to 5 years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99696762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92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329579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DO WE KNOW WHEN IT IS OFFLINE?</a:t>
            </a:r>
            <a:endParaRPr sz="2800"/>
          </a:p>
        </p:txBody>
      </p:sp>
      <p:sp>
        <p:nvSpPr>
          <p:cNvPr id="216940950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Multi-Layer Monitoring System: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Heartbeat Reporting: Periodic heartbeat to cloud (every 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30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minutes).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Dashboard Status Indicators: Real-time Online/Offline status.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ZA" sz="2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ZA" sz="2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SMS Alert / Email alert sent to personnel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ZA" sz="20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Optional Indicators (add-ons):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Beacon Visual Indicator: GREEN light (online), RED light (offline/fault</a:t>
            </a: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</a:t>
            </a:r>
            <a:endParaRPr lang="en-ZA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ZA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(Can include a buzzer as well)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endParaRPr sz="2000">
              <a:latin typeface="Calibri"/>
              <a:cs typeface="Calibri"/>
            </a:endParaRPr>
          </a:p>
        </p:txBody>
      </p:sp>
      <p:sp>
        <p:nvSpPr>
          <p:cNvPr id="98535995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4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106600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LDS WARRANTY</a:t>
            </a:r>
            <a:endParaRPr sz="2800"/>
          </a:p>
        </p:txBody>
      </p:sp>
      <p:sp>
        <p:nvSpPr>
          <p:cNvPr id="1809364788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LDS carries a 1-year warranty, excluding damage from lightning, surge, and weather-related events.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the unit is damaged and requires repair or replacement, and it is still within the warranty period, we will repair or replace the unit at no charge. </a:t>
            </a:r>
            <a:endParaRPr sz="2000" b="0" i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However, this excludes the callout cost of the technician required to visit the site, perform troubleshooting, and replace the unit if necessary </a:t>
            </a:r>
            <a:endParaRPr sz="2000" b="0" i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ZA" sz="20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  <a:r>
              <a:rPr sz="20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this cost will be for the client's account</a:t>
            </a:r>
            <a:r>
              <a:rPr lang="en-ZA" sz="20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endParaRPr sz="20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endParaRPr sz="200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86362772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36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9364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809364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353125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ZA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MEASURES TO PREVENT DOWNTIME</a:t>
            </a:r>
            <a:endParaRPr sz="2800"/>
          </a:p>
        </p:txBody>
      </p:sp>
      <p:sp>
        <p:nvSpPr>
          <p:cNvPr id="1965841700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/>
            </a:pPr>
            <a:r>
              <a:rPr sz="2000" b="1"/>
              <a:t>Proactive Monitoring</a:t>
            </a:r>
            <a:r>
              <a:rPr lang="en-ZA" sz="2000" b="1"/>
              <a:t>:</a:t>
            </a:r>
            <a:endParaRPr sz="2000"/>
          </a:p>
          <a:p>
            <a:pPr>
              <a:defRPr/>
            </a:pPr>
            <a:r>
              <a:rPr sz="2000"/>
              <a:t>   • Automated health checks</a:t>
            </a:r>
            <a:endParaRPr sz="2000"/>
          </a:p>
          <a:p>
            <a:pPr>
              <a:defRPr/>
            </a:pPr>
            <a:r>
              <a:rPr sz="2000"/>
              <a:t>   • Predictive alerts</a:t>
            </a:r>
            <a:endParaRPr sz="2000"/>
          </a:p>
          <a:p>
            <a:pPr>
              <a:defRPr/>
            </a:pPr>
            <a:r>
              <a:rPr sz="2000"/>
              <a:t>   • Remote diagnostics capability</a:t>
            </a:r>
            <a:endParaRPr sz="2000"/>
          </a:p>
          <a:p>
            <a:pPr>
              <a:defRPr/>
            </a:pPr>
            <a:r>
              <a:rPr sz="2000" b="1"/>
              <a:t>Redundant Communication</a:t>
            </a:r>
            <a:r>
              <a:rPr lang="en-ZA" sz="2000" b="1"/>
              <a:t>:</a:t>
            </a:r>
            <a:endParaRPr sz="2000"/>
          </a:p>
          <a:p>
            <a:pPr>
              <a:defRPr/>
            </a:pPr>
            <a:r>
              <a:rPr sz="2000"/>
              <a:t>   • Offline data buffering (stores events locally if Wi</a:t>
            </a:r>
            <a:r>
              <a:rPr lang="en-ZA" sz="2000"/>
              <a:t>-</a:t>
            </a:r>
            <a:r>
              <a:rPr sz="2000"/>
              <a:t>Fi drops)</a:t>
            </a:r>
            <a:endParaRPr sz="2000"/>
          </a:p>
          <a:p>
            <a:pPr>
              <a:defRPr/>
            </a:pPr>
            <a:r>
              <a:rPr sz="2000"/>
              <a:t>   • Automatic retry and sync when connection restored</a:t>
            </a:r>
            <a:endParaRPr sz="2000"/>
          </a:p>
          <a:p>
            <a:pPr>
              <a:defRPr/>
            </a:pPr>
            <a:r>
              <a:rPr lang="en-ZA" sz="2000" b="1"/>
              <a:t>Other</a:t>
            </a:r>
            <a:r>
              <a:rPr sz="2000" b="1"/>
              <a:t> Features</a:t>
            </a:r>
            <a:r>
              <a:rPr lang="en-ZA" sz="2000" b="1"/>
              <a:t>:</a:t>
            </a:r>
            <a:endParaRPr sz="2000"/>
          </a:p>
          <a:p>
            <a:pPr>
              <a:defRPr/>
            </a:pPr>
            <a:r>
              <a:rPr sz="2000"/>
              <a:t>   • Watchdog timer (auto-restart</a:t>
            </a:r>
            <a:r>
              <a:rPr lang="en-ZA" sz="2000"/>
              <a:t>)</a:t>
            </a:r>
            <a:endParaRPr sz="2000"/>
          </a:p>
          <a:p>
            <a:pPr>
              <a:defRPr/>
            </a:pPr>
            <a:r>
              <a:rPr sz="2000"/>
              <a:t>   • Automatic recalibration on temperature changes</a:t>
            </a:r>
            <a:endParaRPr sz="2000"/>
          </a:p>
          <a:p>
            <a:pPr>
              <a:defRPr/>
            </a:pPr>
            <a:r>
              <a:rPr sz="2000"/>
              <a:t>   • Daily register verification (detects sensor faults)</a:t>
            </a:r>
            <a:endParaRPr sz="2000"/>
          </a:p>
          <a:p>
            <a:pPr marL="0" indent="0">
              <a:lnSpc>
                <a:spcPts val="3199"/>
              </a:lnSpc>
              <a:buNone/>
              <a:defRPr/>
            </a:pPr>
            <a:endParaRPr sz="2000"/>
          </a:p>
        </p:txBody>
      </p:sp>
      <p:sp>
        <p:nvSpPr>
          <p:cNvPr id="34394610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84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5841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5841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586131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ZA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CYBERSECURITY &amp; DATA PROTECTION</a:t>
            </a:r>
            <a:endParaRPr lang="en-US" sz="4000"/>
          </a:p>
        </p:txBody>
      </p:sp>
      <p:sp>
        <p:nvSpPr>
          <p:cNvPr id="959738032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Communication Security: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20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TLS 1.2+ encryption, API key authentication.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Data Integrity: </a:t>
            </a:r>
            <a:endParaRPr sz="20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JSON payload signing (HMAC-SHA256).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Access Control: </a:t>
            </a:r>
            <a:endParaRPr sz="20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Role-based dashboard with bcrypt password hashing.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200"/>
              </a:lnSpc>
              <a:buNone/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Unauthorized Access Prevention: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20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Outbound-only firewall rules, disabled SSH.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27938125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3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9738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9738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665400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ZA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CYBERSECURITY &amp; DATA PROTECTION</a:t>
            </a:r>
            <a:endParaRPr lang="en-US" sz="4000"/>
          </a:p>
        </p:txBody>
      </p:sp>
      <p:sp>
        <p:nvSpPr>
          <p:cNvPr id="195585108" name="Text 1"/>
          <p:cNvSpPr/>
          <p:nvPr/>
        </p:nvSpPr>
        <p:spPr bwMode="auto">
          <a:xfrm>
            <a:off x="457200" y="1285875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Data Privacy: </a:t>
            </a:r>
            <a:endParaRPr sz="2000" b="1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Hosted in South Africa (POPIA compliant).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Vulnerability Management: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20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CVE monitoring, regular security audits.</a:t>
            </a:r>
            <a:endParaRPr sz="2000">
              <a:latin typeface="Calibri"/>
              <a:cs typeface="Calibri"/>
            </a:endParaRPr>
          </a:p>
          <a:p>
            <a:pPr marL="0" indent="0">
              <a:lnSpc>
                <a:spcPts val="3199"/>
              </a:lnSpc>
              <a:buNone/>
              <a:defRPr/>
            </a:pPr>
            <a:endParaRPr sz="2000">
              <a:latin typeface="Calibri"/>
              <a:cs typeface="Calibri"/>
            </a:endParaRPr>
          </a:p>
        </p:txBody>
      </p:sp>
      <p:sp>
        <p:nvSpPr>
          <p:cNvPr id="1764280235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5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5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10263" name="Text 0"/>
          <p:cNvSpPr/>
          <p:nvPr/>
        </p:nvSpPr>
        <p:spPr bwMode="auto">
          <a:xfrm>
            <a:off x="457200" y="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ZA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ZA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CYBERSECURITY THREAT MANAGEMEN</a:t>
            </a:r>
            <a:r>
              <a:rPr lang="en-ZA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  <a:endParaRPr lang="en-US" sz="4000"/>
          </a:p>
        </p:txBody>
      </p:sp>
      <p:sp>
        <p:nvSpPr>
          <p:cNvPr id="1014983226" name="Text 1"/>
          <p:cNvSpPr/>
          <p:nvPr/>
        </p:nvSpPr>
        <p:spPr bwMode="auto">
          <a:xfrm>
            <a:off x="457200" y="1671697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3879" indent="-283879">
              <a:buFont typeface="Arial"/>
              <a:buChar char="•"/>
              <a:defRPr/>
            </a:pPr>
            <a:r>
              <a:rPr sz="2000"/>
              <a:t>Automatic security updates (system packages)</a:t>
            </a:r>
            <a:endParaRPr sz="2000"/>
          </a:p>
          <a:p>
            <a:pPr marL="283879" indent="-283879">
              <a:buFont typeface="Arial"/>
              <a:buChar char="•"/>
              <a:defRPr/>
            </a:pPr>
            <a:r>
              <a:rPr sz="2000"/>
              <a:t>Firmware update mechanism with digital signature verification</a:t>
            </a:r>
            <a:endParaRPr sz="2000"/>
          </a:p>
          <a:p>
            <a:pPr marL="283879" indent="-283879">
              <a:buFont typeface="Arial"/>
              <a:buChar char="•"/>
              <a:defRPr/>
            </a:pPr>
            <a:r>
              <a:rPr sz="2000"/>
              <a:t>Intrusion detection: Abnormal network activity monitoring</a:t>
            </a:r>
            <a:endParaRPr sz="2000"/>
          </a:p>
          <a:p>
            <a:pPr marL="283879" indent="-283879">
              <a:buFont typeface="Arial"/>
              <a:buChar char="•"/>
              <a:defRPr/>
            </a:pPr>
            <a:r>
              <a:rPr sz="2000"/>
              <a:t>Logging: All authentication attempts, configuration changes logged</a:t>
            </a:r>
            <a:endParaRPr sz="2000"/>
          </a:p>
          <a:p>
            <a:pPr marL="283879" indent="-283879">
              <a:buFont typeface="Arial"/>
              <a:buChar char="•"/>
              <a:defRPr/>
            </a:pPr>
            <a:r>
              <a:rPr sz="2000"/>
              <a:t>Security incident response plan</a:t>
            </a:r>
            <a:endParaRPr sz="2000"/>
          </a:p>
          <a:p>
            <a:pPr marL="283879" indent="-283879">
              <a:buFont typeface="Arial"/>
              <a:buChar char="•"/>
              <a:defRPr/>
            </a:pPr>
            <a:r>
              <a:rPr sz="2000"/>
              <a:t>Quarterly security audits</a:t>
            </a:r>
            <a:endParaRPr sz="2000"/>
          </a:p>
          <a:p>
            <a:pPr marL="283879" indent="-283879">
              <a:buFont typeface="Arial"/>
              <a:buChar char="•"/>
              <a:defRPr/>
            </a:pPr>
            <a:r>
              <a:rPr sz="2000"/>
              <a:t>CVE monitoring for all software components</a:t>
            </a:r>
            <a:endParaRPr sz="2000"/>
          </a:p>
        </p:txBody>
      </p:sp>
      <p:sp>
        <p:nvSpPr>
          <p:cNvPr id="1064858171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98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983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983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960442" name="Group 3"/>
          <p:cNvGrpSpPr/>
          <p:nvPr/>
        </p:nvGrpSpPr>
        <p:grpSpPr bwMode="auto">
          <a:xfrm rot="0" flipH="0" flipV="0">
            <a:off x="-10847" y="1028700"/>
            <a:ext cx="9223601" cy="4114799"/>
            <a:chOff x="0" y="0"/>
            <a:chExt cx="9223601" cy="4114799"/>
          </a:xfrm>
        </p:grpSpPr>
        <p:sp>
          <p:nvSpPr>
            <p:cNvPr id="2079445335" name="Freeform 4"/>
            <p:cNvSpPr/>
            <p:nvPr/>
          </p:nvSpPr>
          <p:spPr bwMode="auto">
            <a:xfrm rot="0" flipH="0" flipV="0">
              <a:off x="0" y="0"/>
              <a:ext cx="9223601" cy="4114799"/>
            </a:xfrm>
            <a:prstGeom prst="rect">
              <a:avLst/>
            </a:prstGeom>
            <a:blipFill rotWithShape="1">
              <a:blip r:embed="rId3"/>
              <a:stretch>
                <a:fillRect l="-34712" t="0" r="-34711" b="0"/>
              </a:stretch>
            </a:blipFill>
            <a:ln/>
          </p:spPr>
        </p:sp>
      </p:grpSp>
      <p:sp>
        <p:nvSpPr>
          <p:cNvPr id="903759983" name="Text 0"/>
          <p:cNvSpPr/>
          <p:nvPr/>
        </p:nvSpPr>
        <p:spPr bwMode="auto">
          <a:xfrm flipH="0" flipV="0">
            <a:off x="457200" y="-1036898"/>
            <a:ext cx="8229600" cy="2736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sz="2600">
              <a:latin typeface="Arial"/>
              <a:cs typeface="Arial"/>
            </a:endParaRPr>
          </a:p>
          <a:p>
            <a:pPr marL="0" indent="0" algn="ctr">
              <a:buNone/>
              <a:defRPr/>
            </a:pPr>
            <a:r>
              <a:rPr lang="en-ZA" sz="2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Thank you for your time</a:t>
            </a:r>
            <a:endParaRPr sz="2600">
              <a:latin typeface="Arial"/>
              <a:cs typeface="Arial"/>
            </a:endParaRPr>
          </a:p>
        </p:txBody>
      </p:sp>
      <p:sp>
        <p:nvSpPr>
          <p:cNvPr id="1729754604" name="Text 2"/>
          <p:cNvSpPr/>
          <p:nvPr/>
        </p:nvSpPr>
        <p:spPr bwMode="auto">
          <a:xfrm>
            <a:off x="7772400" y="4629150"/>
            <a:ext cx="914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5</cp:revision>
  <dcterms:created xsi:type="dcterms:W3CDTF">2026-08-11T10:45:14Z</dcterms:created>
  <dcterms:modified xsi:type="dcterms:W3CDTF">2026-08-20T00:22:35Z</dcterms:modified>
</cp:coreProperties>
</file>